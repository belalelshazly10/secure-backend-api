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E9ABFF-6BBE-4205-BDC8-AAC0E5DA2CE2}">
  <a:tblStyle styleId="{31E9ABFF-6BBE-4205-BDC8-AAC0E5DA2C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c5d1da753_0_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c5d1da753_7_0)">
  <p:cSld name="Generated (g3dc5d1da753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1635442" y="2619375"/>
            <a:ext cx="892111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Secure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Analysis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652712" y="3571875"/>
            <a:ext cx="6886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Detailed Teardown of app.py and secure_auth.py Modules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5524500" y="2524125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045618" y="2847975"/>
            <a:ext cx="6100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Module 1: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app.py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910012" y="3838575"/>
            <a:ext cx="4371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API Gateway &amp; Request Handling Layer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571500" y="11413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REQUEST HARDENING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571500" y="2027187"/>
            <a:ext cx="495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Implementation of the add_security_headers middleware to enforce browser-side security policies.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952500" y="289396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Content-Security-Policy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952500" y="332258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X-Frame-Options: DENY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52500" y="375121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HSTS (Strict-Transport-Security)</a:t>
            </a:r>
            <a:endParaRPr/>
          </a:p>
        </p:txBody>
      </p:sp>
      <p:pic>
        <p:nvPicPr>
          <p:cNvPr descr="image.png" id="107" name="Google Shape;1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1575" y="284797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3962"/>
            <a:ext cx="4953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571500" y="11413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ACCESS CONTROL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71500" y="2027187"/>
            <a:ext cx="495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Utilizing the token_required decorator for route-level protection.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847725" y="3284487"/>
            <a:ext cx="4438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Enforces "Authorization" header presence and validates via verify_token().</a:t>
            </a:r>
            <a:endParaRPr/>
          </a:p>
        </p:txBody>
      </p:sp>
      <p:pic>
        <p:nvPicPr>
          <p:cNvPr descr="image.png" id="119" name="Google Shape;11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91575" y="284797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0"/>
            <a:ext cx="6095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8957"/>
            <a:ext cx="34924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08957"/>
            <a:ext cx="349254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608957"/>
            <a:ext cx="34924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999482"/>
            <a:ext cx="27113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962025" y="3609082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/register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62025" y="4075807"/>
            <a:ext cx="2711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POST method with username/email validation before hashing.</a:t>
            </a:r>
            <a:endParaRPr/>
          </a:p>
        </p:txBody>
      </p:sp>
      <p:pic>
        <p:nvPicPr>
          <p:cNvPr descr="image.png" id="132" name="Google Shape;13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999482"/>
            <a:ext cx="27114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4740175" y="3609082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/login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740175" y="407580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Issues JWT upon AuthResult success. Tracks logs for security audits.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8518475" y="3228082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/encrypt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518475" y="3694807"/>
            <a:ext cx="2711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AES encryption endpoint for sensitive text payloads.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API ROUTES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/>
          <p:nvPr/>
        </p:nvSpPr>
        <p:spPr>
          <a:xfrm>
            <a:off x="5524500" y="2524125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430416" y="2847975"/>
            <a:ext cx="933116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Module 2: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secure_auth.py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3886200" y="3838575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Core Authentication &amp; Identity Management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571500" y="11413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SALTED HASHING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571500" y="2027187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mplementation of bcrypt.hashpw ensures passwords are never stored in plain text.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571500" y="28939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Logic Applied: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571500" y="337021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1. Encode to UTF-8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2. Generate Salt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3. Compute Expensive Hash</a:t>
            </a:r>
            <a:endParaRPr/>
          </a:p>
        </p:txBody>
      </p:sp>
      <p:pic>
        <p:nvPicPr>
          <p:cNvPr descr="image.png" id="156" name="Google Shape;15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912" y="2847975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2150" y="0"/>
            <a:ext cx="64198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46412"/>
            <a:ext cx="4953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075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571500" y="1141362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BRUTE FORCE MITIGATION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571500" y="2579637"/>
            <a:ext cx="495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Using LOCKOUT_THRESHOLD and LOCKOUT_WINDOW to prevent credential stuffing.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809625" y="3875037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Current Configuration: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809625" y="435128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Threshold: 5 attempts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Window: 30 minutes</a:t>
            </a:r>
            <a:endParaRPr/>
          </a:p>
        </p:txBody>
      </p:sp>
      <p:pic>
        <p:nvPicPr>
          <p:cNvPr descr="image.png" id="169" name="Google Shape;16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3012" y="28479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571500" y="11413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TOKEN ISSUANCE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571500" y="2027187"/>
            <a:ext cx="495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Inside the login function, the JWT payload is structured with 'sub', 'role', 'iat', and 'exp'.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571500" y="27987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"HS256 Algorithm used for signing."</a:t>
            </a:r>
            <a:endParaRPr/>
          </a:p>
        </p:txBody>
      </p:sp>
      <p:pic>
        <p:nvPicPr>
          <p:cNvPr descr="image.png" id="180" name="Google Shape;18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3012" y="28479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2158" y="0"/>
            <a:ext cx="64109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3"/>
          <p:cNvGraphicFramePr/>
          <p:nvPr/>
        </p:nvGraphicFramePr>
        <p:xfrm>
          <a:off x="571500" y="2542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{31E9ABFF-6BBE-4205-BDC8-AAC0E5DA2CE2}</a:tableStyleId>
              </a:tblPr>
              <a:tblGrid>
                <a:gridCol w="3069125"/>
                <a:gridCol w="3233725"/>
                <a:gridCol w="4746125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Security 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Function/Variable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SECRET_KEY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Cryptographic signing of tokens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Availability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is_locked()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Prevents service exhaustion by bots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Confidentiality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AES.encrypt()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Protects PII in transit/rest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Non-repudiation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log_security_event()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Audit trail for login 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3"/>
          <p:cNvSpPr/>
          <p:nvPr/>
        </p:nvSpPr>
        <p:spPr>
          <a:xfrm>
            <a:off x="571500" y="3766244"/>
            <a:ext cx="30691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3640633" y="3766244"/>
            <a:ext cx="32337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874371" y="3766244"/>
            <a:ext cx="4746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71500" y="4366319"/>
            <a:ext cx="30691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3640633" y="4366319"/>
            <a:ext cx="32337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6874371" y="4366319"/>
            <a:ext cx="4746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571500" y="4966394"/>
            <a:ext cx="30691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640633" y="4966394"/>
            <a:ext cx="32337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6874371" y="4966394"/>
            <a:ext cx="4746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71500" y="5566469"/>
            <a:ext cx="306913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3640633" y="5566469"/>
            <a:ext cx="32337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6874371" y="5566469"/>
            <a:ext cx="4746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SECURITY CONTROL MATRIX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/>
          <p:nvPr/>
        </p:nvSpPr>
        <p:spPr>
          <a:xfrm>
            <a:off x="571500" y="4051994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152650" y="4175819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71500" y="3612505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Short Term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71500" y="4022080"/>
            <a:ext cx="3314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Transition from USERS dict to PostgreSQL with persistent salt storage.</a:t>
            </a: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6019800" y="4175819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4438650" y="3612505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Mid Term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438650" y="4022080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Integration of Refresh Token rotation to reduce Access Token lifespan.</a:t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9886950" y="4175819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8305800" y="3612505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Long Term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8305800" y="4022080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Vault-based Key Management (KMS) for AES and JWT Secrets.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FUTURE HARDENING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0" y="17145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lang="en-US" sz="7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 b="1" sz="72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0" y="2952750"/>
            <a:ext cx="1219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 Architecture Review: Complete</a:t>
            </a:r>
            <a:endParaRPr b="0" sz="24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23" name="Google Shape;223;p25"/>
          <p:cNvGrpSpPr/>
          <p:nvPr/>
        </p:nvGrpSpPr>
        <p:grpSpPr>
          <a:xfrm>
            <a:off x="3714750" y="4000500"/>
            <a:ext cx="4762500" cy="1714500"/>
            <a:chOff x="0" y="0"/>
            <a:chExt cx="4762500" cy="1714500"/>
          </a:xfrm>
        </p:grpSpPr>
        <p:sp>
          <p:nvSpPr>
            <p:cNvPr id="224" name="Google Shape;224;p25"/>
            <p:cNvSpPr/>
            <p:nvPr/>
          </p:nvSpPr>
          <p:spPr>
            <a:xfrm>
              <a:off x="0" y="0"/>
              <a:ext cx="4762500" cy="192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5"/>
            <p:cNvSpPr txBox="1"/>
            <p:nvPr/>
          </p:nvSpPr>
          <p:spPr>
            <a:xfrm>
              <a:off x="0" y="190500"/>
              <a:ext cx="4762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Presented By:</a:t>
              </a:r>
              <a:endParaRPr b="0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Belal Elshazly 221007975</a:t>
              </a:r>
              <a:endParaRPr b="0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Omar Waleed 221017650</a:t>
              </a:r>
              <a:endParaRPr b="0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